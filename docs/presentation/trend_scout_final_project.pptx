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Trend Scout — scheduler-ready агентний пайплайн: збирає новини, відбирає топ-5 і доставляє в Telegram лише після quality gate. Без credentials працює safe preview; реальний канал — два env-параметри.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Одразу домовляюсь: показую робочу систему і виміряні числа, без обіцянок. Все відтворюється з репозиторію.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Мотивація особиста: я сам перший користувач. Фінальний прогін дав 36 унікальних матеріалів і top-5; baseline — 4 LLM-виклики та близько $0.0065.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Publisher робочий. На демо — preview status; він не архівується як delivery. Для sent mode потрібні bot token і channel 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LLM-агенти приймають рішення, детерміновані воркери виконують. Judge — gate; replan і revise мають жорсткі бюджети, а невдача завершується reject.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Вузькі контракти між агентами — як між сервісами в бекенді. Помилка формату ловиться на межі, а не глибше в пайплайні.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Мій бекграунд — Flask + Celery. Недетермінованість LLM не скасовує інженерні принципи, а робить їх обовʼязковими.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Кодовий guardrail не довіряє слухняності моделі: він блокує сторонні URL і неправильну структуру. Це source-integrity контроль, не повний content-security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Кожен judge criterion має бути не нижче 4. Історичний trace показує ревізію 3.67 → 4.67; offline demo доводить fail-closed reject.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Зліва — фінальний виконаний notebook: 36 items, score 4.67, усі criteria ≥4, preview, archive skipped. Revision trace збережено окремо.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Фінальний gate: 50 offline tests, ruff, package build, fail-closed CLI smoke і executed Colab. Метрики відділені від припущень.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Кожне обмеження — з мітигацією або усвідомленим трейдофом. Це інженерний вибір, а не недоробка.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Наступні кроки потребують deployment або eval-даних: Telegram credentials, scheduler, незалежний judge і calibrated thresholds.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Scout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Щоденний AI-дайджест у Telegram-канал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C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мультиагентна система на LangGraph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069080"/>
            <a:ext cx="621792" cy="621792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190" y="4218310"/>
            <a:ext cx="323332" cy="3233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473659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536192" y="4379976"/>
            <a:ext cx="603504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231136" y="4069080"/>
            <a:ext cx="621792" cy="621792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366" y="4218310"/>
            <a:ext cx="323332" cy="3233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11096" y="473659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944368" y="4379976"/>
            <a:ext cx="603504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3639312" y="4069080"/>
            <a:ext cx="621792" cy="621792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542" y="4218310"/>
            <a:ext cx="323332" cy="3233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19272" y="473659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Curator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352544" y="4379976"/>
            <a:ext cx="603504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5047488" y="4069080"/>
            <a:ext cx="621792" cy="621792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6718" y="4218310"/>
            <a:ext cx="323332" cy="3233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727448" y="473659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Writer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760720" y="4379976"/>
            <a:ext cx="603504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>
            <a:off x="6455664" y="4069080"/>
            <a:ext cx="621792" cy="62179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894" y="4218310"/>
            <a:ext cx="323332" cy="3233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135624" y="473659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7168896" y="4379976"/>
            <a:ext cx="603504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863840" y="4069080"/>
            <a:ext cx="621792" cy="62179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3070" y="4218310"/>
            <a:ext cx="323332" cy="3233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543800" y="473659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Роман Мицко  ·  фінальний проєкт  ·  Generative AI Developer (robot_dreams)  ·  липень 2026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Агенда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1503274"/>
            <a:ext cx="285293" cy="2852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371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й ідея   </a:t>
            </a:r>
            <a:pPr indent="0" marL="0">
              <a:buNone/>
            </a:pPr>
            <a:r>
              <a:rPr lang="en-US" sz="1350" dirty="0">
                <a:solidFill>
                  <a:srgbClr val="8C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навіщо мені цей агент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40080" y="2267712"/>
            <a:ext cx="548640" cy="548640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4" y="2399386"/>
            <a:ext cx="285293" cy="2852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226771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Архітектура   </a:t>
            </a:r>
            <a:pPr indent="0" marL="0">
              <a:buNone/>
            </a:pPr>
            <a:r>
              <a:rPr lang="en-US" sz="1350" dirty="0">
                <a:solidFill>
                  <a:srgbClr val="8C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явний граф, 2 петлі, terminal reject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40080" y="3163824"/>
            <a:ext cx="548640" cy="548640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3295498"/>
            <a:ext cx="285293" cy="28529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316382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Надійність і безпека   </a:t>
            </a:r>
            <a:pPr indent="0" marL="0">
              <a:buNone/>
            </a:pPr>
            <a:r>
              <a:rPr lang="en-US" sz="1350" dirty="0">
                <a:solidFill>
                  <a:srgbClr val="8C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guardrails, graceful degradation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640080" y="4059936"/>
            <a:ext cx="548640" cy="548640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4" y="4191610"/>
            <a:ext cx="285293" cy="28529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17320" y="405993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Якість   </a:t>
            </a:r>
            <a:pPr indent="0" marL="0">
              <a:buNone/>
            </a:pPr>
            <a:r>
              <a:rPr lang="en-US" sz="1350" dirty="0">
                <a:solidFill>
                  <a:srgbClr val="8C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LLM-as-a-judge з ревізіями</a:t>
            </a:r>
            <a:endParaRPr lang="en-US" sz="1700" dirty="0"/>
          </a:p>
        </p:txBody>
      </p:sp>
      <p:sp>
        <p:nvSpPr>
          <p:cNvPr id="15" name="Shape 9"/>
          <p:cNvSpPr/>
          <p:nvPr/>
        </p:nvSpPr>
        <p:spPr>
          <a:xfrm>
            <a:off x="640080" y="4956048"/>
            <a:ext cx="548640" cy="548640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54" y="5087722"/>
            <a:ext cx="285293" cy="28529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17320" y="4956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 і плани   </a:t>
            </a:r>
            <a:pPr indent="0" marL="0">
              <a:buNone/>
            </a:pPr>
            <a:r>
              <a:rPr lang="en-US" sz="1350" dirty="0">
                <a:solidFill>
                  <a:srgbClr val="8C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реальний прогін, метрики, roadmap</a:t>
            </a:r>
            <a:endParaRPr lang="en-US" sz="1700" dirty="0"/>
          </a:p>
        </p:txBody>
      </p:sp>
      <p:sp>
        <p:nvSpPr>
          <p:cNvPr id="18" name="Text 11"/>
          <p:cNvSpPr/>
          <p:nvPr/>
        </p:nvSpPr>
        <p:spPr>
          <a:xfrm>
            <a:off x="640080" y="6035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 — з реальних прогонів; історичні й фінальні traces розділені в examples/.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Проблема: я тону в щоденному шумі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66928" cy="566928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1736263"/>
            <a:ext cx="294803" cy="294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41732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Щодня — десятки релізів і статей</a:t>
            </a:r>
            <a:endParaRPr lang="en-US" sz="16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Стежити за agentic-світом руками — година скролінгу щоранку.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640080" y="2971800"/>
            <a:ext cx="566928" cy="566928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43" y="3107863"/>
            <a:ext cx="294803" cy="2948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278892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Сигнал ховається в маркетингу</a:t>
            </a:r>
            <a:endParaRPr lang="en-US" sz="16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Передруки й listicle-и закривають те, що справді впливає на мою роботу.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640080" y="4343400"/>
            <a:ext cx="566928" cy="566928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4479463"/>
            <a:ext cx="294803" cy="29480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416052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Моє рішення</a:t>
            </a:r>
            <a:endParaRPr lang="en-US" sz="16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читає все за мене і щоранку постить топ-5 у Telegram-канал — з поясненням, чому це важливо саме для backend-інженера.</a:t>
            </a:r>
            <a:endParaRPr lang="en-US" sz="1650" dirty="0"/>
          </a:p>
        </p:txBody>
      </p:sp>
      <p:sp>
        <p:nvSpPr>
          <p:cNvPr id="12" name="Shape 7"/>
          <p:cNvSpPr/>
          <p:nvPr/>
        </p:nvSpPr>
        <p:spPr>
          <a:xfrm>
            <a:off x="8092440" y="150876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283372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8366760" y="16184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2900" dirty="0"/>
          </a:p>
        </p:txBody>
      </p:sp>
      <p:sp>
        <p:nvSpPr>
          <p:cNvPr id="14" name="Text 9"/>
          <p:cNvSpPr/>
          <p:nvPr/>
        </p:nvSpPr>
        <p:spPr>
          <a:xfrm>
            <a:off x="8366760" y="218541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унікальні матеріали у фінальному прогоні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092440" y="297180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283372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8366760" y="30815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900" dirty="0"/>
          </a:p>
        </p:txBody>
      </p:sp>
      <p:sp>
        <p:nvSpPr>
          <p:cNvPr id="17" name="Text 12"/>
          <p:cNvSpPr/>
          <p:nvPr/>
        </p:nvSpPr>
        <p:spPr>
          <a:xfrm>
            <a:off x="8366760" y="364845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матеріалів у фінальному дайджесті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092440" y="443484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283372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8366760" y="45445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$0.0065</a:t>
            </a:r>
            <a:endParaRPr lang="en-US" sz="2900" dirty="0"/>
          </a:p>
        </p:txBody>
      </p:sp>
      <p:sp>
        <p:nvSpPr>
          <p:cNvPr id="20" name="Text 15"/>
          <p:cNvSpPr/>
          <p:nvPr/>
        </p:nvSpPr>
        <p:spPr>
          <a:xfrm>
            <a:off x="8366760" y="511149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baseline-вимірювання прогону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Рішення: мої теми на вході — пост у каналі на виході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283372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828800"/>
            <a:ext cx="548640" cy="548640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074" y="196047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27632" y="1828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Вхід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32688" y="260604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 теми: multi-agent, MCP/A2A…</a:t>
            </a:r>
            <a:endParaRPr lang="en-US" sz="1300" dirty="0"/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аудиторія: backend Python engineer</a:t>
            </a:r>
            <a:endParaRPr lang="en-US" sz="1300" dirty="0"/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розклад: deployment (cron)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87952" y="3154680"/>
            <a:ext cx="219456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434840" y="155448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283372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1828800"/>
            <a:ext cx="548640" cy="548640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834" y="196047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2392" y="1828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Пайплайн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727448" y="260604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LLM-агенти + детерміновані воркери</a:t>
            </a:r>
            <a:endParaRPr lang="en-US" sz="1300" dirty="0"/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RSS + пошук, embeddings-дедуплікація</a:t>
            </a:r>
            <a:endParaRPr lang="en-US" sz="1300" dirty="0"/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петлі якості: replan і revise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82712" y="3154680"/>
            <a:ext cx="219456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8229600" y="155448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283372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03920" y="1828800"/>
            <a:ext cx="548640" cy="548640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5594" y="196047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17152" y="1828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Вихід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522208" y="260604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 у Telegram: топ-5 з rolling 7-day window</a:t>
            </a:r>
            <a:endParaRPr lang="en-US" sz="1300" dirty="0"/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Суть → Чому важливо → Лінк</a:t>
            </a:r>
            <a:endParaRPr lang="en-US" sz="1300" dirty="0"/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публікація лише після оцінки судді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1371600" y="5257800"/>
            <a:ext cx="9418320" cy="777240"/>
          </a:xfrm>
          <a:prstGeom prst="roundRect">
            <a:avLst>
              <a:gd name="adj" fmla="val 14118"/>
            </a:avLst>
          </a:prstGeom>
          <a:solidFill>
            <a:srgbClr val="2F3B85"/>
          </a:solidFill>
          <a:ln/>
        </p:spPr>
      </p:sp>
      <p:sp>
        <p:nvSpPr>
          <p:cNvPr id="21" name="Text 16"/>
          <p:cNvSpPr/>
          <p:nvPr/>
        </p:nvSpPr>
        <p:spPr>
          <a:xfrm>
            <a:off x="1645920" y="525780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 поки не налаштовано: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credentials publisher зберігає preview, не надсилає й не архівує. Для каналу потрібні два env-параметри.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Архітектура: явний граф станів (LangGraph)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25780" y="2103120"/>
            <a:ext cx="1225296" cy="1353312"/>
          </a:xfrm>
          <a:prstGeom prst="roundRect">
            <a:avLst>
              <a:gd name="adj" fmla="val 6716"/>
            </a:avLst>
          </a:prstGeom>
          <a:solidFill>
            <a:srgbClr val="283372"/>
          </a:solidFill>
          <a:ln w="12700">
            <a:solidFill>
              <a:srgbClr val="2F3B8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8972" y="2221992"/>
            <a:ext cx="438912" cy="438912"/>
          </a:xfrm>
          <a:prstGeom prst="ellipse">
            <a:avLst/>
          </a:prstGeom>
          <a:solidFill>
            <a:srgbClr val="2F3B85"/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311" y="2327331"/>
            <a:ext cx="228234" cy="2282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2900" y="2706624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planner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42900" y="303580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787652" y="2779776"/>
            <a:ext cx="173736" cy="0"/>
          </a:xfrm>
          <a:prstGeom prst="line">
            <a:avLst/>
          </a:prstGeom>
          <a:noFill/>
          <a:ln w="28575">
            <a:solidFill>
              <a:srgbClr val="02C39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997964" y="2103120"/>
            <a:ext cx="1225296" cy="1353312"/>
          </a:xfrm>
          <a:prstGeom prst="roundRect">
            <a:avLst>
              <a:gd name="adj" fmla="val 6716"/>
            </a:avLst>
          </a:prstGeom>
          <a:solidFill>
            <a:srgbClr val="283372"/>
          </a:solidFill>
          <a:ln w="12700">
            <a:solidFill>
              <a:srgbClr val="2F3B8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2391156" y="2221992"/>
            <a:ext cx="438912" cy="438912"/>
          </a:xfrm>
          <a:prstGeom prst="ellipse">
            <a:avLst/>
          </a:prstGeom>
          <a:solidFill>
            <a:srgbClr val="2F3B85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495" y="2327331"/>
            <a:ext cx="228234" cy="2282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15084" y="2706624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researcher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1815084" y="303580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59836" y="2779776"/>
            <a:ext cx="173736" cy="0"/>
          </a:xfrm>
          <a:prstGeom prst="line">
            <a:avLst/>
          </a:prstGeom>
          <a:noFill/>
          <a:ln w="28575">
            <a:solidFill>
              <a:srgbClr val="02C39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3470148" y="2103120"/>
            <a:ext cx="1225296" cy="1353312"/>
          </a:xfrm>
          <a:prstGeom prst="roundRect">
            <a:avLst>
              <a:gd name="adj" fmla="val 6716"/>
            </a:avLst>
          </a:prstGeom>
          <a:solidFill>
            <a:srgbClr val="283372"/>
          </a:solidFill>
          <a:ln w="12700">
            <a:solidFill>
              <a:srgbClr val="2F3B8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3863340" y="2221992"/>
            <a:ext cx="438912" cy="438912"/>
          </a:xfrm>
          <a:prstGeom prst="ellipse">
            <a:avLst/>
          </a:prstGeom>
          <a:solidFill>
            <a:srgbClr val="2F3B85"/>
          </a:solidFill>
          <a:ln/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679" y="2327331"/>
            <a:ext cx="228234" cy="22823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287268" y="2706624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curator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3287268" y="303580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32020" y="2779776"/>
            <a:ext cx="173736" cy="0"/>
          </a:xfrm>
          <a:prstGeom prst="line">
            <a:avLst/>
          </a:prstGeom>
          <a:noFill/>
          <a:ln w="28575">
            <a:solidFill>
              <a:srgbClr val="02C39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4942332" y="2103120"/>
            <a:ext cx="1225296" cy="1353312"/>
          </a:xfrm>
          <a:prstGeom prst="roundRect">
            <a:avLst>
              <a:gd name="adj" fmla="val 6716"/>
            </a:avLst>
          </a:prstGeom>
          <a:solidFill>
            <a:srgbClr val="283372"/>
          </a:solidFill>
          <a:ln w="12700">
            <a:solidFill>
              <a:srgbClr val="2F3B8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5335524" y="2221992"/>
            <a:ext cx="438912" cy="438912"/>
          </a:xfrm>
          <a:prstGeom prst="ellipse">
            <a:avLst/>
          </a:prstGeom>
          <a:solidFill>
            <a:srgbClr val="2F3B85"/>
          </a:solidFill>
          <a:ln/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863" y="2327331"/>
            <a:ext cx="228234" cy="22823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759452" y="2706624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writer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759452" y="303580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6204204" y="2779776"/>
            <a:ext cx="173736" cy="0"/>
          </a:xfrm>
          <a:prstGeom prst="line">
            <a:avLst/>
          </a:prstGeom>
          <a:noFill/>
          <a:ln w="28575">
            <a:solidFill>
              <a:srgbClr val="02C39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7" name="Shape 21"/>
          <p:cNvSpPr/>
          <p:nvPr/>
        </p:nvSpPr>
        <p:spPr>
          <a:xfrm>
            <a:off x="6414516" y="2103120"/>
            <a:ext cx="1225296" cy="1353312"/>
          </a:xfrm>
          <a:prstGeom prst="roundRect">
            <a:avLst>
              <a:gd name="adj" fmla="val 6716"/>
            </a:avLst>
          </a:prstGeom>
          <a:solidFill>
            <a:srgbClr val="1A5C50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8" name="Shape 22"/>
          <p:cNvSpPr/>
          <p:nvPr/>
        </p:nvSpPr>
        <p:spPr>
          <a:xfrm>
            <a:off x="6807708" y="2221992"/>
            <a:ext cx="438912" cy="43891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3047" y="2327331"/>
            <a:ext cx="228234" cy="22823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231636" y="2706624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6231636" y="303580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+ LLM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7676388" y="2779776"/>
            <a:ext cx="173736" cy="0"/>
          </a:xfrm>
          <a:prstGeom prst="line">
            <a:avLst/>
          </a:prstGeom>
          <a:noFill/>
          <a:ln w="28575">
            <a:solidFill>
              <a:srgbClr val="02C39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Shape 26"/>
          <p:cNvSpPr/>
          <p:nvPr/>
        </p:nvSpPr>
        <p:spPr>
          <a:xfrm>
            <a:off x="7886700" y="2103120"/>
            <a:ext cx="1225296" cy="1353312"/>
          </a:xfrm>
          <a:prstGeom prst="roundRect">
            <a:avLst>
              <a:gd name="adj" fmla="val 6716"/>
            </a:avLst>
          </a:prstGeom>
          <a:solidFill>
            <a:srgbClr val="283372"/>
          </a:solidFill>
          <a:ln w="12700">
            <a:solidFill>
              <a:srgbClr val="2F3B8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4" name="Shape 27"/>
          <p:cNvSpPr/>
          <p:nvPr/>
        </p:nvSpPr>
        <p:spPr>
          <a:xfrm>
            <a:off x="8279892" y="2221992"/>
            <a:ext cx="438912" cy="438912"/>
          </a:xfrm>
          <a:prstGeom prst="ellipse">
            <a:avLst/>
          </a:prstGeom>
          <a:solidFill>
            <a:srgbClr val="2F3B85"/>
          </a:solidFill>
          <a:ln/>
        </p:spPr>
        <p:txBody>
          <a:bodyPr/>
          <a:p/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231" y="2327331"/>
            <a:ext cx="228234" cy="22823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703820" y="2706624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publisher</a:t>
            </a:r>
            <a:endParaRPr lang="en-US" sz="1150" dirty="0"/>
          </a:p>
        </p:txBody>
      </p:sp>
      <p:sp>
        <p:nvSpPr>
          <p:cNvPr id="37" name="Text 29"/>
          <p:cNvSpPr/>
          <p:nvPr/>
        </p:nvSpPr>
        <p:spPr>
          <a:xfrm>
            <a:off x="7703820" y="303580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9148572" y="2779776"/>
            <a:ext cx="173736" cy="0"/>
          </a:xfrm>
          <a:prstGeom prst="line">
            <a:avLst/>
          </a:prstGeom>
          <a:noFill/>
          <a:ln w="28575">
            <a:solidFill>
              <a:srgbClr val="02C39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9" name="Shape 31"/>
          <p:cNvSpPr/>
          <p:nvPr/>
        </p:nvSpPr>
        <p:spPr>
          <a:xfrm>
            <a:off x="9358884" y="2103120"/>
            <a:ext cx="1225296" cy="1353312"/>
          </a:xfrm>
          <a:prstGeom prst="roundRect">
            <a:avLst>
              <a:gd name="adj" fmla="val 6716"/>
            </a:avLst>
          </a:prstGeom>
          <a:solidFill>
            <a:srgbClr val="283372"/>
          </a:solidFill>
          <a:ln w="12700">
            <a:solidFill>
              <a:srgbClr val="2F3B8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40" name="Shape 32"/>
          <p:cNvSpPr/>
          <p:nvPr/>
        </p:nvSpPr>
        <p:spPr>
          <a:xfrm>
            <a:off x="9752076" y="2221992"/>
            <a:ext cx="438912" cy="438912"/>
          </a:xfrm>
          <a:prstGeom prst="ellipse">
            <a:avLst/>
          </a:prstGeom>
          <a:solidFill>
            <a:srgbClr val="2F3B85"/>
          </a:solidFill>
          <a:ln/>
        </p:spPr>
        <p:txBody>
          <a:bodyPr/>
          <a:p/>
        </p:txBody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7415" y="2327331"/>
            <a:ext cx="228234" cy="228234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9176004" y="2706624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archive</a:t>
            </a:r>
            <a:endParaRPr lang="en-US" sz="1150" dirty="0"/>
          </a:p>
        </p:txBody>
      </p:sp>
      <p:sp>
        <p:nvSpPr>
          <p:cNvPr id="43" name="Text 34"/>
          <p:cNvSpPr/>
          <p:nvPr/>
        </p:nvSpPr>
        <p:spPr>
          <a:xfrm>
            <a:off x="9176004" y="303580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памʼять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10629900" y="2779776"/>
            <a:ext cx="237744" cy="0"/>
          </a:xfrm>
          <a:prstGeom prst="line">
            <a:avLst/>
          </a:prstGeom>
          <a:noFill/>
          <a:ln w="28575">
            <a:solidFill>
              <a:srgbClr val="02C39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5" name="Shape 36"/>
          <p:cNvSpPr/>
          <p:nvPr/>
        </p:nvSpPr>
        <p:spPr>
          <a:xfrm>
            <a:off x="10949940" y="2423160"/>
            <a:ext cx="713232" cy="71323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46" name="Text 37"/>
          <p:cNvSpPr/>
          <p:nvPr/>
        </p:nvSpPr>
        <p:spPr>
          <a:xfrm>
            <a:off x="10949940" y="24231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1150" dirty="0"/>
          </a:p>
        </p:txBody>
      </p:sp>
      <p:sp>
        <p:nvSpPr>
          <p:cNvPr id="47" name="Shape 38"/>
          <p:cNvSpPr/>
          <p:nvPr/>
        </p:nvSpPr>
        <p:spPr>
          <a:xfrm>
            <a:off x="2610612" y="3456432"/>
            <a:ext cx="0" cy="411480"/>
          </a:xfrm>
          <a:prstGeom prst="line">
            <a:avLst/>
          </a:prstGeom>
          <a:noFill/>
          <a:ln w="22225">
            <a:solidFill>
              <a:srgbClr val="F9E795"/>
            </a:solidFill>
            <a:prstDash val="dash"/>
          </a:ln>
        </p:spPr>
        <p:txBody>
          <a:bodyPr/>
          <a:p/>
        </p:txBody>
      </p:sp>
      <p:sp>
        <p:nvSpPr>
          <p:cNvPr id="48" name="Shape 39"/>
          <p:cNvSpPr/>
          <p:nvPr/>
        </p:nvSpPr>
        <p:spPr>
          <a:xfrm>
            <a:off x="1138428" y="3867912"/>
            <a:ext cx="1472184" cy="0"/>
          </a:xfrm>
          <a:prstGeom prst="line">
            <a:avLst/>
          </a:prstGeom>
          <a:noFill/>
          <a:ln w="22225">
            <a:solidFill>
              <a:srgbClr val="F9E795"/>
            </a:solidFill>
            <a:prstDash val="dash"/>
          </a:ln>
        </p:spPr>
        <p:txBody>
          <a:bodyPr/>
          <a:p/>
        </p:txBody>
      </p:sp>
      <p:sp>
        <p:nvSpPr>
          <p:cNvPr id="49" name="Shape 40"/>
          <p:cNvSpPr/>
          <p:nvPr/>
        </p:nvSpPr>
        <p:spPr>
          <a:xfrm>
            <a:off x="1138428" y="3456432"/>
            <a:ext cx="0" cy="411480"/>
          </a:xfrm>
          <a:prstGeom prst="line">
            <a:avLst/>
          </a:prstGeom>
          <a:noFill/>
          <a:ln w="22225">
            <a:solidFill>
              <a:srgbClr val="F9E795"/>
            </a:solidFill>
            <a:prstDash val="dash"/>
            <a:headEnd type="triangle"/>
          </a:ln>
        </p:spPr>
        <p:txBody>
          <a:bodyPr/>
          <a:p/>
        </p:txBody>
      </p:sp>
      <p:sp>
        <p:nvSpPr>
          <p:cNvPr id="50" name="Text 41"/>
          <p:cNvSpPr/>
          <p:nvPr/>
        </p:nvSpPr>
        <p:spPr>
          <a:xfrm>
            <a:off x="1001268" y="39136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replan — мало матеріалу (≤ 1)</a:t>
            </a:r>
            <a:endParaRPr lang="en-US" sz="1100" dirty="0"/>
          </a:p>
        </p:txBody>
      </p:sp>
      <p:sp>
        <p:nvSpPr>
          <p:cNvPr id="51" name="Shape 42"/>
          <p:cNvSpPr/>
          <p:nvPr/>
        </p:nvSpPr>
        <p:spPr>
          <a:xfrm>
            <a:off x="7027164" y="3456432"/>
            <a:ext cx="0" cy="868680"/>
          </a:xfrm>
          <a:prstGeom prst="line">
            <a:avLst/>
          </a:prstGeom>
          <a:noFill/>
          <a:ln w="22225">
            <a:solidFill>
              <a:srgbClr val="F9E795"/>
            </a:solidFill>
            <a:prstDash val="dash"/>
          </a:ln>
        </p:spPr>
        <p:txBody>
          <a:bodyPr/>
          <a:p/>
        </p:txBody>
      </p:sp>
      <p:sp>
        <p:nvSpPr>
          <p:cNvPr id="52" name="Shape 43"/>
          <p:cNvSpPr/>
          <p:nvPr/>
        </p:nvSpPr>
        <p:spPr>
          <a:xfrm>
            <a:off x="5554980" y="4325112"/>
            <a:ext cx="1472184" cy="0"/>
          </a:xfrm>
          <a:prstGeom prst="line">
            <a:avLst/>
          </a:prstGeom>
          <a:noFill/>
          <a:ln w="22225">
            <a:solidFill>
              <a:srgbClr val="F9E795"/>
            </a:solidFill>
            <a:prstDash val="dash"/>
          </a:ln>
        </p:spPr>
        <p:txBody>
          <a:bodyPr/>
          <a:p/>
        </p:txBody>
      </p:sp>
      <p:sp>
        <p:nvSpPr>
          <p:cNvPr id="53" name="Shape 44"/>
          <p:cNvSpPr/>
          <p:nvPr/>
        </p:nvSpPr>
        <p:spPr>
          <a:xfrm>
            <a:off x="5554980" y="3456432"/>
            <a:ext cx="0" cy="868680"/>
          </a:xfrm>
          <a:prstGeom prst="line">
            <a:avLst/>
          </a:prstGeom>
          <a:noFill/>
          <a:ln w="22225">
            <a:solidFill>
              <a:srgbClr val="F9E795"/>
            </a:solidFill>
            <a:prstDash val="dash"/>
            <a:headEnd type="triangle"/>
          </a:ln>
        </p:spPr>
        <p:txBody>
          <a:bodyPr/>
          <a:p/>
        </p:txBody>
      </p:sp>
      <p:sp>
        <p:nvSpPr>
          <p:cNvPr id="54" name="Text 45"/>
          <p:cNvSpPr/>
          <p:nvPr/>
        </p:nvSpPr>
        <p:spPr>
          <a:xfrm>
            <a:off x="5417820" y="43708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 — будь-який score &lt; 4.0 (≤ 2), далі reject</a:t>
            </a:r>
            <a:endParaRPr lang="en-US" sz="1100" dirty="0"/>
          </a:p>
        </p:txBody>
      </p:sp>
      <p:sp>
        <p:nvSpPr>
          <p:cNvPr id="55" name="Shape 46"/>
          <p:cNvSpPr/>
          <p:nvPr/>
        </p:nvSpPr>
        <p:spPr>
          <a:xfrm>
            <a:off x="640080" y="5577840"/>
            <a:ext cx="10908792" cy="713232"/>
          </a:xfrm>
          <a:prstGeom prst="roundRect">
            <a:avLst>
              <a:gd name="adj" fmla="val 12821"/>
            </a:avLst>
          </a:prstGeom>
          <a:solidFill>
            <a:srgbClr val="283372"/>
          </a:solidFill>
          <a:ln/>
        </p:spPr>
        <p:txBody>
          <a:bodyPr/>
          <a:p/>
        </p:txBody>
      </p:sp>
      <p:sp>
        <p:nvSpPr>
          <p:cNvPr id="56" name="Text 47"/>
          <p:cNvSpPr/>
          <p:nvPr/>
        </p:nvSpPr>
        <p:spPr>
          <a:xfrm>
            <a:off x="914400" y="557784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Петлі обмежені лічильниками — виконання гарантовано завершується.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C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Fail-closed: budget exhausted → reject. Archive пише в Chroma лише після підтвердженої Telegram-доставки.</a:t>
            </a:r>
            <a:endParaRPr lang="en-US" sz="1300" dirty="0"/>
          </a:p>
        </p:txBody>
      </p:sp>
      <p:sp>
        <p:nvSpPr>
          <p:cNvPr id="57" name="Rounded Rectangle 56"/>
          <p:cNvSpPr/>
          <p:nvPr/>
        </p:nvSpPr>
        <p:spPr>
          <a:xfrm>
            <a:off x="7452360" y="4690872"/>
            <a:ext cx="3246120" cy="530352"/>
          </a:xfrm>
          <a:prstGeom prst="roundRect">
            <a:avLst/>
          </a:prstGeom>
          <a:solidFill>
            <a:srgbClr val="9A3412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 sz="1400" b="1">
                <a:solidFill>
                  <a:srgbClr val="FFFFFF"/>
                </a:solidFill>
                <a:latin typeface="Arial"/>
              </a:rPr>
              <a:t>hard fail / budget → reject → 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Агенти: одна відповідальність — один типізований контракт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12064" cy="512064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975" y="1540215"/>
            <a:ext cx="266273" cy="2662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307592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planner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декомпозує мої теми у 2–6 пошукових запитів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9144000" y="1426464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2F3B85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0" y="14264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ResearchPlan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240280"/>
            <a:ext cx="512064" cy="512064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2363175"/>
            <a:ext cx="266273" cy="2662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130552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researcher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RSS + DDG news; дедуплікація URL і семантична, фільтр памʼяті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9144000" y="2249424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2F3B85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144000" y="224942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list[RawItem]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063240"/>
            <a:ext cx="512064" cy="512064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75" y="3186135"/>
            <a:ext cx="266273" cy="26627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2953512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curator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ранжує під аудиторію, відсіює маркетинг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9144000" y="3072384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2F3B85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144000" y="307238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CurationResult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40080" y="3886200"/>
            <a:ext cx="512064" cy="512064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75" y="4009095"/>
            <a:ext cx="266273" cy="26627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25880" y="3776472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writer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пише пост у строгому форматі; враховує фідбек судді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9144000" y="3895344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2F3B85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9144000" y="38953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digest.md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40080" y="4709160"/>
            <a:ext cx="512064" cy="512064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75" y="4832055"/>
            <a:ext cx="266273" cy="26627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325880" y="4599432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 у коді + рубрика 1–5 за трьома критеріями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9144000" y="4718304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2F3B85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9144000" y="47183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JudgeVerdict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640080" y="5669280"/>
            <a:ext cx="10972800" cy="868680"/>
          </a:xfrm>
          <a:prstGeom prst="roundRect">
            <a:avLst>
              <a:gd name="adj" fmla="val 10526"/>
            </a:avLst>
          </a:prstGeom>
          <a:solidFill>
            <a:srgbClr val="283372"/>
          </a:solidFill>
          <a:ln/>
        </p:spPr>
      </p:sp>
      <p:sp>
        <p:nvSpPr>
          <p:cNvPr id="29" name="Text 22"/>
          <p:cNvSpPr/>
          <p:nvPr/>
        </p:nvSpPr>
        <p:spPr>
          <a:xfrm>
            <a:off x="914400" y="56692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contracts: planner, curator, judge. Writer Markdown проходить детерміновану format-перевірку.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C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Після апруву: publisher → Telegram. Archive → Chroma лише при delivery_status=sent.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Надійність: ті самі принципи, що в моїх Celery-пайплайнах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283372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96112" y="1792224"/>
            <a:ext cx="493776" cy="493776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618" y="1910730"/>
            <a:ext cx="256764" cy="2567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77393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degradation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32688" y="242316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Впав фід, тротлить пошук, помилка embeddings — крок пропускається, прогін живе.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55448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283372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19672" y="1792224"/>
            <a:ext cx="493776" cy="493776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178" y="1910730"/>
            <a:ext cx="256764" cy="2567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177393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Capped loops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6556248" y="242316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replan ≤ 1, revise ≤ 2. Нескінченні цикли неможливі за конструкцією.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56616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283372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96112" y="3803904"/>
            <a:ext cx="493776" cy="493776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618" y="3922410"/>
            <a:ext cx="256764" cy="2567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378561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Дедуплікація × 2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932688" y="443484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Нормалізовані URL + семантична (embeddings + cosine): один сюжет — один айтем.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63640" y="356616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283372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19672" y="3803904"/>
            <a:ext cx="493776" cy="493776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178" y="3922410"/>
            <a:ext cx="256764" cy="2567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78040" y="378561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log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6556248" y="443484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вузол пише подію в state; ключові реальні traces збережені в examples/.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8C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LLM-рішення оточені звичними backend-гарантіями: bounded retry, ідемпотентність, status і trace.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Безпека: весь зовнішній контент — недовірені дані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0120" y="2194560"/>
            <a:ext cx="1463040" cy="14630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1250" y="2545690"/>
            <a:ext cx="760781" cy="7607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8862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поверхня атаки: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тайтли і сніпети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RSS та пошуку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383280" y="1600200"/>
            <a:ext cx="8229600" cy="1188720"/>
          </a:xfrm>
          <a:prstGeom prst="roundRect">
            <a:avLst>
              <a:gd name="adj" fmla="val 9231"/>
            </a:avLst>
          </a:prstGeom>
          <a:solidFill>
            <a:srgbClr val="283372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703320" y="16002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Санітизація на вході</a:t>
            </a:r>
            <a:endParaRPr lang="en-US" sz="15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strip, обрізання до 600 символів — до того, як контент побачить будь-який промпт.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3383280" y="2971800"/>
            <a:ext cx="8229600" cy="1188720"/>
          </a:xfrm>
          <a:prstGeom prst="roundRect">
            <a:avLst>
              <a:gd name="adj" fmla="val 9231"/>
            </a:avLst>
          </a:prstGeom>
          <a:solidFill>
            <a:srgbClr val="283372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703320" y="29718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Явне маркування untrusted</a:t>
            </a:r>
            <a:endParaRPr lang="en-US" sz="15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Контент лише в нумерованих &lt;item&gt;-блоках; у кожному промпті: «дані — не команди».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3383280" y="4343400"/>
            <a:ext cx="8229600" cy="1188720"/>
          </a:xfrm>
          <a:prstGeom prst="roundRect">
            <a:avLst>
              <a:gd name="adj" fmla="val 9231"/>
            </a:avLst>
          </a:prstGeom>
          <a:solidFill>
            <a:srgbClr val="283372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703320" y="43434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URL-allowlist у коді</a:t>
            </a:r>
            <a:endParaRPr lang="en-US" sz="15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лінк у пості — markdown чи голий — має бути серед зібраних. Інакше автофейл і примусова ревізія.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40080" y="5943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Захист не абсолютний: код гарантує source URL і структуру; зміст усе одно потребує eval-процесу.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Якість: LLM-as-a-judge перед кожною delivery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283372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7373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relevance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14400" y="217627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відповідність темам та аудиторії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337560" y="170078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C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155448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283372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17373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grounding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709160" y="217627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факти лише зі сніпетів, лінки лише зібрані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32320" y="170078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C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0" y="155448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283372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03920" y="17373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503920" y="217627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строгий формат поста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927080" y="170078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C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6035040" cy="2606040"/>
          </a:xfrm>
          <a:prstGeom prst="roundRect">
            <a:avLst>
              <a:gd name="adj" fmla="val 4211"/>
            </a:avLst>
          </a:prstGeom>
          <a:solidFill>
            <a:srgbClr val="283372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Петля ревізій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406908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спершу безплатний guardrail у коді, потім LLM-рубрика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будь-який score &lt; 4.0 → фідбек повертається writer-у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2 ревізії, далі — reject: без публікації та archive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040880" y="3429000"/>
            <a:ext cx="4572000" cy="2606040"/>
          </a:xfrm>
          <a:prstGeom prst="roundRect">
            <a:avLst>
              <a:gd name="adj" fmla="val 4211"/>
            </a:avLst>
          </a:prstGeom>
          <a:solidFill>
            <a:srgbClr val="1A5C50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0" y="3611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Історичний trace, 19.07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15200" y="40233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3.67 → 4.67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7315200" y="48463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перший драфт відхилено (4·4·3), ревізія за фідбеком судді — апрув (5·5·4). Петля не декоративна.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Демо: фінальний end-to-end прогін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029200" cy="3246120"/>
          </a:xfrm>
          <a:prstGeom prst="roundRect">
            <a:avLst>
              <a:gd name="adj" fmla="val 2817"/>
            </a:avLst>
          </a:prstGeom>
          <a:solidFill>
            <a:srgbClr val="141B3F"/>
          </a:solidFill>
          <a:ln w="12700">
            <a:solidFill>
              <a:srgbClr val="2F3B8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276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trend-scout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4572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planner:    6 queries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researcher: 36 unique items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curator:    picked 5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judge:      5·5·4 = 4.67 → PASS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writer:     draft #0, hard failure=false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publisher:  preview → HTML збережено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archive:    skipped (status=preview)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notebook:   9/9 code cells, 0 errors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26480" y="1463040"/>
            <a:ext cx="5486400" cy="3246120"/>
          </a:xfrm>
          <a:prstGeom prst="roundRect">
            <a:avLst>
              <a:gd name="adj" fmla="val 4225"/>
            </a:avLst>
          </a:prstGeom>
          <a:solidFill>
            <a:srgbClr val="283372"/>
          </a:solidFill>
          <a:ln w="12700">
            <a:solidFill>
              <a:srgbClr val="2F3B8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0" y="1691640"/>
            <a:ext cx="457200" cy="457200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28" y="180136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95160" y="166420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Scout · Daily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C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реальний канал потребує Telegram credentials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2395728"/>
            <a:ext cx="4937760" cy="0"/>
          </a:xfrm>
          <a:prstGeom prst="line">
            <a:avLst/>
          </a:prstGeom>
          <a:noFill/>
          <a:ln w="12700">
            <a:solidFill>
              <a:srgbClr val="2F3B8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251460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Огляд AI-агентів і памʼяті для backend Python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IETF scrutiny of competing AI-agent protocols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Суть: стандарти протоколів для взаємодії AI-агентів…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Чому важливо: сумісність backend-систем і агентів…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Лінк: точний URL із source item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Codex Multi-Agent V2  ·  3. Memory injection risks…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8C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повний trace — у Colab та examples/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5074920"/>
            <a:ext cx="457200" cy="457200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18464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61872" y="50749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github.com/RomanMytsko/trend-scout — код, тести, CI, приклади прогонів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5733288"/>
            <a:ext cx="457200" cy="457200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84301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61872" y="573328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Colab: живий прогін end-to-end (бейдж у README)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я це будував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48640" cy="548640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1640434"/>
            <a:ext cx="285293" cy="2852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344168"/>
            <a:ext cx="1014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Ітераціями, як продукт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 пайплайн → v0.2 embeddings і памʼять → v0.3 Telegram-паблішер. Історія — у комітах і релізах репозиторію.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2697480"/>
            <a:ext cx="548640" cy="548640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4" y="2829154"/>
            <a:ext cx="285293" cy="2852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2532888"/>
            <a:ext cx="1014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 й CI з першого дня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офлайн-тестів: guardrails, routing, CLI, memory, resumable delivery + ruff. CI: Python 3.10/3.12.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40080" y="3886200"/>
            <a:ext cx="548640" cy="548640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4017874"/>
            <a:ext cx="285293" cy="28529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3721608"/>
            <a:ext cx="1014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Міряв, а не вгадував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Вартість і judge scores виміряні. Ключові traces: final run, revision loop і fail-closed proof — в examples/.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640080" y="5074920"/>
            <a:ext cx="548640" cy="548640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4" y="5206594"/>
            <a:ext cx="285293" cy="28529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17320" y="4910328"/>
            <a:ext cx="1014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— інструмент, рішення — мої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використовував як pair-програміста. Архітектура, trade-offs (детермінований researcher, суддя після guardrail) і фінальний код — мій вибір і моя відповідальність.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Обмеження — чесно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30352" cy="530352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364" y="1636044"/>
            <a:ext cx="275783" cy="2757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353312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Якість = якість джерел</a:t>
            </a:r>
            <a:endParaRPr lang="en-US" sz="15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фідів + DDG news. Розширення — env-конфіг RSS_FEEDS_JSON, без зміни коду.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2624328"/>
            <a:ext cx="530352" cy="530352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64" y="2751612"/>
            <a:ext cx="275783" cy="2757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246888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Безключовий пошук тротлиться</a:t>
            </a:r>
            <a:endParaRPr lang="en-US" sz="15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інколи ріже запити — матеріалу менше, але прогін не падає (graceful degradation).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640080" y="3739896"/>
            <a:ext cx="530352" cy="530352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364" y="3867180"/>
            <a:ext cx="275783" cy="27578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3584448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Суддя — та сама модель</a:t>
            </a:r>
            <a:endParaRPr lang="en-US" sz="15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Self-preference bias реальний. Мітигації: guardrail у коді + вузька рубрика. Наступний крок — суддя іншою моделлю.</a:t>
            </a:r>
            <a:endParaRPr lang="en-US" sz="1550" dirty="0"/>
          </a:p>
        </p:txBody>
      </p:sp>
      <p:sp>
        <p:nvSpPr>
          <p:cNvPr id="12" name="Shape 7"/>
          <p:cNvSpPr/>
          <p:nvPr/>
        </p:nvSpPr>
        <p:spPr>
          <a:xfrm>
            <a:off x="640080" y="4855464"/>
            <a:ext cx="530352" cy="530352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364" y="4982748"/>
            <a:ext cx="275783" cy="27578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71600" y="4700016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Пороги підібрані вручну</a:t>
            </a:r>
            <a:endParaRPr lang="en-US" sz="15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 (дедуплікація) і 0.88 (памʼять) — емпірика. Правильний шлях — eval-сет пар «дублікат/не дублікат».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Обіцяти магію — найгірше, що можна зробити на демо. Система корисна саме тому, що її межі відомі й контрольовані.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 і підсумки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1686154"/>
            <a:ext cx="285293" cy="2852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408176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Реальний канал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готово: створити канал, додати два env-параметри — пости підуть автоматично.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2880360"/>
            <a:ext cx="548640" cy="548640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4" y="3012034"/>
            <a:ext cx="285293" cy="2852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2734056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Автономний розклад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рядок cron або Celery beat — агент працює щоранку без мене.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2F3B85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4337914"/>
            <a:ext cx="285293" cy="28529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4059936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A2A і мультимодельний суддя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Дайджест як сервіс для інших агентів; суддя на іншій моделі.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7315200" y="1554480"/>
            <a:ext cx="4297680" cy="3977640"/>
          </a:xfrm>
          <a:prstGeom prst="roundRect">
            <a:avLst>
              <a:gd name="adj" fmla="val 2759"/>
            </a:avLst>
          </a:prstGeom>
          <a:solidFill>
            <a:srgbClr val="283372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758952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зроблено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7589520" y="224028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primary nodes + reject terminal, 2 bounded loops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embeddings: дедуплікація + Chroma-памʼять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LLM-as-a-judge + guardrails у коді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Telegram-паблішер: resumable sent / preview / failed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тестів, uv.lock, CI matrix, Colab-демо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7589520" y="4937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github.com/RomanMytsko/trend-scout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40080" y="5897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Дякую!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2026-07-19T15:38:54Z</dcterms:created>
  <dcterms:modified xsi:type="dcterms:W3CDTF">2026-07-19T15:38:54Z</dcterms:modified>
</cp:coreProperties>
</file>